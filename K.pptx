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9" d="100"/>
          <a:sy n="69" d="100"/>
        </p:scale>
        <p:origin x="564"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ZA"/>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ZA"/>
          </a:p>
        </p:txBody>
      </p:sp>
      <p:sp>
        <p:nvSpPr>
          <p:cNvPr id="4" name="Date Placeholder 3"/>
          <p:cNvSpPr>
            <a:spLocks noGrp="1"/>
          </p:cNvSpPr>
          <p:nvPr>
            <p:ph type="dt" sz="half" idx="10"/>
          </p:nvPr>
        </p:nvSpPr>
        <p:spPr/>
        <p:txBody>
          <a:bodyPr/>
          <a:lstStyle/>
          <a:p>
            <a:fld id="{F475391B-CAB0-48AB-BB3A-E843B1163B6B}" type="datetimeFigureOut">
              <a:rPr lang="en-ZA" smtClean="0"/>
              <a:t>2026/09/17</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2795538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ZA"/>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ZA"/>
          </a:p>
        </p:txBody>
      </p:sp>
      <p:sp>
        <p:nvSpPr>
          <p:cNvPr id="4" name="Date Placeholder 3"/>
          <p:cNvSpPr>
            <a:spLocks noGrp="1"/>
          </p:cNvSpPr>
          <p:nvPr>
            <p:ph type="dt" sz="half" idx="10"/>
          </p:nvPr>
        </p:nvSpPr>
        <p:spPr/>
        <p:txBody>
          <a:bodyPr/>
          <a:lstStyle/>
          <a:p>
            <a:fld id="{F475391B-CAB0-48AB-BB3A-E843B1163B6B}" type="datetimeFigureOut">
              <a:rPr lang="en-ZA" smtClean="0"/>
              <a:t>2026/09/17</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7758062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ZA"/>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F475391B-CAB0-48AB-BB3A-E843B1163B6B}" type="datetimeFigureOut">
              <a:rPr lang="en-ZA" smtClean="0"/>
              <a:t>2026/09/17</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26093987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ZA"/>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ZA"/>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ZA"/>
          </a:p>
        </p:txBody>
      </p:sp>
      <p:sp>
        <p:nvSpPr>
          <p:cNvPr id="5" name="Date Placeholder 4"/>
          <p:cNvSpPr>
            <a:spLocks noGrp="1"/>
          </p:cNvSpPr>
          <p:nvPr>
            <p:ph type="dt" sz="half" idx="10"/>
          </p:nvPr>
        </p:nvSpPr>
        <p:spPr/>
        <p:txBody>
          <a:bodyPr/>
          <a:lstStyle/>
          <a:p>
            <a:fld id="{F475391B-CAB0-48AB-BB3A-E843B1163B6B}" type="datetimeFigureOut">
              <a:rPr lang="en-ZA" smtClean="0"/>
              <a:t>2026/09/17</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1025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ZA"/>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ZA"/>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ZA"/>
          </a:p>
        </p:txBody>
      </p:sp>
      <p:sp>
        <p:nvSpPr>
          <p:cNvPr id="7" name="Date Placeholder 6"/>
          <p:cNvSpPr>
            <a:spLocks noGrp="1"/>
          </p:cNvSpPr>
          <p:nvPr>
            <p:ph type="dt" sz="half" idx="10"/>
          </p:nvPr>
        </p:nvSpPr>
        <p:spPr/>
        <p:txBody>
          <a:bodyPr/>
          <a:lstStyle/>
          <a:p>
            <a:fld id="{F475391B-CAB0-48AB-BB3A-E843B1163B6B}" type="datetimeFigureOut">
              <a:rPr lang="en-ZA" smtClean="0"/>
              <a:t>2026/09/17</a:t>
            </a:fld>
            <a:endParaRPr lang="en-ZA"/>
          </a:p>
        </p:txBody>
      </p:sp>
      <p:sp>
        <p:nvSpPr>
          <p:cNvPr id="8" name="Footer Placeholder 7"/>
          <p:cNvSpPr>
            <a:spLocks noGrp="1"/>
          </p:cNvSpPr>
          <p:nvPr>
            <p:ph type="ftr" sz="quarter" idx="11"/>
          </p:nvPr>
        </p:nvSpPr>
        <p:spPr/>
        <p:txBody>
          <a:bodyPr/>
          <a:lstStyle/>
          <a:p>
            <a:endParaRPr lang="en-ZA"/>
          </a:p>
        </p:txBody>
      </p:sp>
      <p:sp>
        <p:nvSpPr>
          <p:cNvPr id="9" name="Slide Number Placeholder 8"/>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8830489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ZA"/>
          </a:p>
        </p:txBody>
      </p:sp>
      <p:sp>
        <p:nvSpPr>
          <p:cNvPr id="3" name="Date Placeholder 2"/>
          <p:cNvSpPr>
            <a:spLocks noGrp="1"/>
          </p:cNvSpPr>
          <p:nvPr>
            <p:ph type="dt" sz="half" idx="10"/>
          </p:nvPr>
        </p:nvSpPr>
        <p:spPr/>
        <p:txBody>
          <a:bodyPr/>
          <a:lstStyle/>
          <a:p>
            <a:fld id="{F475391B-CAB0-48AB-BB3A-E843B1163B6B}" type="datetimeFigureOut">
              <a:rPr lang="en-ZA" smtClean="0"/>
              <a:t>2026/09/17</a:t>
            </a:fld>
            <a:endParaRPr lang="en-ZA"/>
          </a:p>
        </p:txBody>
      </p:sp>
      <p:sp>
        <p:nvSpPr>
          <p:cNvPr id="4" name="Footer Placeholder 3"/>
          <p:cNvSpPr>
            <a:spLocks noGrp="1"/>
          </p:cNvSpPr>
          <p:nvPr>
            <p:ph type="ftr" sz="quarter" idx="11"/>
          </p:nvPr>
        </p:nvSpPr>
        <p:spPr/>
        <p:txBody>
          <a:bodyPr/>
          <a:lstStyle/>
          <a:p>
            <a:endParaRPr lang="en-ZA"/>
          </a:p>
        </p:txBody>
      </p:sp>
      <p:sp>
        <p:nvSpPr>
          <p:cNvPr id="5" name="Slide Number Placeholder 4"/>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35520923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475391B-CAB0-48AB-BB3A-E843B1163B6B}" type="datetimeFigureOut">
              <a:rPr lang="en-ZA" smtClean="0"/>
              <a:t>2026/09/17</a:t>
            </a:fld>
            <a:endParaRPr lang="en-ZA"/>
          </a:p>
        </p:txBody>
      </p:sp>
      <p:sp>
        <p:nvSpPr>
          <p:cNvPr id="3" name="Footer Placeholder 2"/>
          <p:cNvSpPr>
            <a:spLocks noGrp="1"/>
          </p:cNvSpPr>
          <p:nvPr>
            <p:ph type="ftr" sz="quarter" idx="11"/>
          </p:nvPr>
        </p:nvSpPr>
        <p:spPr/>
        <p:txBody>
          <a:bodyPr/>
          <a:lstStyle/>
          <a:p>
            <a:endParaRPr lang="en-ZA"/>
          </a:p>
        </p:txBody>
      </p:sp>
      <p:sp>
        <p:nvSpPr>
          <p:cNvPr id="4" name="Slide Number Placeholder 3"/>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15993192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ZA"/>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ZA"/>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F475391B-CAB0-48AB-BB3A-E843B1163B6B}" type="datetimeFigureOut">
              <a:rPr lang="en-ZA" smtClean="0"/>
              <a:t>2026/09/17</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28607964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ZA"/>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F475391B-CAB0-48AB-BB3A-E843B1163B6B}" type="datetimeFigureOut">
              <a:rPr lang="en-ZA" smtClean="0"/>
              <a:t>2026/09/17</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21701273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ZA"/>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ZA"/>
          </a:p>
        </p:txBody>
      </p:sp>
      <p:sp>
        <p:nvSpPr>
          <p:cNvPr id="4" name="Date Placeholder 3"/>
          <p:cNvSpPr>
            <a:spLocks noGrp="1"/>
          </p:cNvSpPr>
          <p:nvPr>
            <p:ph type="dt" sz="half" idx="10"/>
          </p:nvPr>
        </p:nvSpPr>
        <p:spPr/>
        <p:txBody>
          <a:bodyPr/>
          <a:lstStyle/>
          <a:p>
            <a:fld id="{F475391B-CAB0-48AB-BB3A-E843B1163B6B}" type="datetimeFigureOut">
              <a:rPr lang="en-ZA" smtClean="0"/>
              <a:t>2026/09/17</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18445750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ZA"/>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ZA"/>
          </a:p>
        </p:txBody>
      </p:sp>
      <p:sp>
        <p:nvSpPr>
          <p:cNvPr id="4" name="Date Placeholder 3"/>
          <p:cNvSpPr>
            <a:spLocks noGrp="1"/>
          </p:cNvSpPr>
          <p:nvPr>
            <p:ph type="dt" sz="half" idx="10"/>
          </p:nvPr>
        </p:nvSpPr>
        <p:spPr/>
        <p:txBody>
          <a:bodyPr/>
          <a:lstStyle/>
          <a:p>
            <a:fld id="{F475391B-CAB0-48AB-BB3A-E843B1163B6B}" type="datetimeFigureOut">
              <a:rPr lang="en-ZA" smtClean="0"/>
              <a:t>2026/09/17</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4D7B34C8-07E8-487E-933E-E1E99116B26C}" type="slidenum">
              <a:rPr lang="en-ZA" smtClean="0"/>
              <a:t>‹#›</a:t>
            </a:fld>
            <a:endParaRPr lang="en-ZA"/>
          </a:p>
        </p:txBody>
      </p:sp>
    </p:spTree>
    <p:extLst>
      <p:ext uri="{BB962C8B-B14F-4D97-AF65-F5344CB8AC3E}">
        <p14:creationId xmlns:p14="http://schemas.microsoft.com/office/powerpoint/2010/main" val="20787518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ZA"/>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ZA"/>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75391B-CAB0-48AB-BB3A-E843B1163B6B}" type="datetimeFigureOut">
              <a:rPr lang="en-ZA" smtClean="0"/>
              <a:t>2026/09/17</a:t>
            </a:fld>
            <a:endParaRPr lang="en-Z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Z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7B34C8-07E8-487E-933E-E1E99116B26C}" type="slidenum">
              <a:rPr lang="en-ZA" smtClean="0"/>
              <a:t>‹#›</a:t>
            </a:fld>
            <a:endParaRPr lang="en-ZA"/>
          </a:p>
        </p:txBody>
      </p:sp>
    </p:spTree>
    <p:extLst>
      <p:ext uri="{BB962C8B-B14F-4D97-AF65-F5344CB8AC3E}">
        <p14:creationId xmlns:p14="http://schemas.microsoft.com/office/powerpoint/2010/main" val="976104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smtClean="0"/>
              <a:t>K.A.B</a:t>
            </a:r>
            <a:endParaRPr lang="en-ZA" dirty="0"/>
          </a:p>
        </p:txBody>
      </p:sp>
      <p:sp>
        <p:nvSpPr>
          <p:cNvPr id="3" name="Subtitle 2"/>
          <p:cNvSpPr>
            <a:spLocks noGrp="1"/>
          </p:cNvSpPr>
          <p:nvPr>
            <p:ph type="subTitle" idx="1"/>
          </p:nvPr>
        </p:nvSpPr>
        <p:spPr/>
        <p:txBody>
          <a:bodyPr/>
          <a:lstStyle/>
          <a:p>
            <a:r>
              <a:rPr lang="en-US" dirty="0" smtClean="0"/>
              <a:t>GROUP PRESENTATION on </a:t>
            </a:r>
            <a:r>
              <a:rPr lang="en-US" dirty="0" err="1" smtClean="0"/>
              <a:t>AgroShield</a:t>
            </a:r>
            <a:r>
              <a:rPr lang="en-US" dirty="0" smtClean="0"/>
              <a:t> Twin</a:t>
            </a:r>
            <a:endParaRPr lang="en-ZA" dirty="0"/>
          </a:p>
        </p:txBody>
      </p:sp>
    </p:spTree>
    <p:extLst>
      <p:ext uri="{BB962C8B-B14F-4D97-AF65-F5344CB8AC3E}">
        <p14:creationId xmlns:p14="http://schemas.microsoft.com/office/powerpoint/2010/main" val="22698060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THE PROBLEM WE IDENTIFIED</a:t>
            </a:r>
            <a:endParaRPr lang="en-ZA" dirty="0"/>
          </a:p>
        </p:txBody>
      </p:sp>
      <p:sp>
        <p:nvSpPr>
          <p:cNvPr id="3" name="Content Placeholder 2"/>
          <p:cNvSpPr>
            <a:spLocks noGrp="1"/>
          </p:cNvSpPr>
          <p:nvPr>
            <p:ph idx="1"/>
          </p:nvPr>
        </p:nvSpPr>
        <p:spPr/>
        <p:txBody>
          <a:bodyPr>
            <a:normAutofit fontScale="85000" lnSpcReduction="20000"/>
          </a:bodyPr>
          <a:lstStyle/>
          <a:p>
            <a:r>
              <a:rPr lang="en-US" dirty="0" smtClean="0"/>
              <a:t>Farmers face changing environmental conditions such as high temperatures and insufficient soil moisture. The challenge is that these conditions may not affect the entire farm equally. One area can be dry while another area still has enough moisture.</a:t>
            </a:r>
          </a:p>
          <a:p>
            <a:r>
              <a:rPr lang="en-US" dirty="0" smtClean="0"/>
              <a:t>The problem is that farmers are experiencing an issue when it comes to soil hydration and plant hydration It affects small scale and large scale farmers as all of them share the this similar stressor as areas with high elevation and which are far from rivers and dams tend to struggle when it comes to gathering water to water their crops.</a:t>
            </a:r>
          </a:p>
          <a:p>
            <a:r>
              <a:rPr lang="en-US" dirty="0" smtClean="0"/>
              <a:t>This is caused by the rapid raises of temperature and the lacking of rain causing droughts.</a:t>
            </a:r>
          </a:p>
          <a:p>
            <a:r>
              <a:rPr lang="en-US" dirty="0" smtClean="0"/>
              <a:t>This can be solved by creating a smart irrigation system where by the soil moisture is measured before hand by sensors and through the IOT to tell the farmers on when and how to water and hydrate the soil when needed</a:t>
            </a:r>
            <a:endParaRPr lang="en-ZA" dirty="0"/>
          </a:p>
        </p:txBody>
      </p:sp>
    </p:spTree>
    <p:extLst>
      <p:ext uri="{BB962C8B-B14F-4D97-AF65-F5344CB8AC3E}">
        <p14:creationId xmlns:p14="http://schemas.microsoft.com/office/powerpoint/2010/main" val="14837952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OUR SOLUTION</a:t>
            </a:r>
            <a:endParaRPr lang="en-ZA" dirty="0"/>
          </a:p>
        </p:txBody>
      </p:sp>
      <p:sp>
        <p:nvSpPr>
          <p:cNvPr id="3" name="Content Placeholder 2"/>
          <p:cNvSpPr>
            <a:spLocks noGrp="1"/>
          </p:cNvSpPr>
          <p:nvPr>
            <p:ph idx="1"/>
          </p:nvPr>
        </p:nvSpPr>
        <p:spPr/>
        <p:txBody>
          <a:bodyPr>
            <a:normAutofit/>
          </a:bodyPr>
          <a:lstStyle/>
          <a:p>
            <a:r>
              <a:rPr lang="en-US" dirty="0" smtClean="0"/>
              <a:t>Our solution is designed to identify exactly which farming zone needs attention.</a:t>
            </a:r>
          </a:p>
          <a:p>
            <a:r>
              <a:rPr lang="en-US" dirty="0" smtClean="0"/>
              <a:t>When the system detects low soil moisture, it can automatically activate a relay and irrigation pump to provide water to the affected zone. When high temperatures are detected, it can activate an alarm.</a:t>
            </a:r>
          </a:p>
          <a:p>
            <a:r>
              <a:rPr lang="en-US" dirty="0" smtClean="0"/>
              <a:t>But our project goes further. We connect the physical farm to a 3D digital twin. The digital twin represents the different farm zones and displays their current conditions. If Zone 2 becomes too dry, for example, the digital twin highlights Zone 2 as stressed and shows that irrigation is active.</a:t>
            </a:r>
            <a:endParaRPr lang="en-ZA" dirty="0"/>
          </a:p>
        </p:txBody>
      </p:sp>
    </p:spTree>
    <p:extLst>
      <p:ext uri="{BB962C8B-B14F-4D97-AF65-F5344CB8AC3E}">
        <p14:creationId xmlns:p14="http://schemas.microsoft.com/office/powerpoint/2010/main" val="3936755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it works</a:t>
            </a:r>
            <a:endParaRPr lang="en-ZA" dirty="0"/>
          </a:p>
        </p:txBody>
      </p:sp>
      <p:sp>
        <p:nvSpPr>
          <p:cNvPr id="3" name="Content Placeholder 2"/>
          <p:cNvSpPr>
            <a:spLocks noGrp="1"/>
          </p:cNvSpPr>
          <p:nvPr>
            <p:ph idx="1"/>
          </p:nvPr>
        </p:nvSpPr>
        <p:spPr/>
        <p:txBody>
          <a:bodyPr/>
          <a:lstStyle/>
          <a:p>
            <a:r>
              <a:rPr lang="en-US" dirty="0" smtClean="0"/>
              <a:t>The system uses an array of sensors to continuously collect different types of data like soil moisture, temperature and humidity and it also uses an ultrasonic sensor to measure water levels in a tank using distance.</a:t>
            </a:r>
          </a:p>
          <a:p>
            <a:r>
              <a:rPr lang="en-US" dirty="0" smtClean="0"/>
              <a:t>The whole system will be controlled locally by a ESP32.</a:t>
            </a:r>
          </a:p>
          <a:p>
            <a:r>
              <a:rPr lang="en-US" dirty="0" smtClean="0"/>
              <a:t>With the BLYNK app you can also view and control the system remotely</a:t>
            </a:r>
          </a:p>
          <a:p>
            <a:endParaRPr lang="en-ZA" dirty="0"/>
          </a:p>
        </p:txBody>
      </p:sp>
    </p:spTree>
    <p:extLst>
      <p:ext uri="{BB962C8B-B14F-4D97-AF65-F5344CB8AC3E}">
        <p14:creationId xmlns:p14="http://schemas.microsoft.com/office/powerpoint/2010/main" val="31565846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Our progress</a:t>
            </a:r>
            <a:endParaRPr lang="en-ZA" dirty="0"/>
          </a:p>
        </p:txBody>
      </p:sp>
      <p:sp>
        <p:nvSpPr>
          <p:cNvPr id="3" name="Content Placeholder 2"/>
          <p:cNvSpPr>
            <a:spLocks noGrp="1"/>
          </p:cNvSpPr>
          <p:nvPr>
            <p:ph sz="half" idx="1"/>
          </p:nvPr>
        </p:nvSpPr>
        <p:spPr/>
        <p:txBody>
          <a:bodyPr/>
          <a:lstStyle/>
          <a:p>
            <a:r>
              <a:rPr lang="en-US" dirty="0" smtClean="0"/>
              <a:t>We’ve managed to assemble a partial prototype using an esp32 after prototyping with an Arduino </a:t>
            </a:r>
            <a:r>
              <a:rPr lang="en-US" dirty="0" err="1" smtClean="0"/>
              <a:t>uno</a:t>
            </a:r>
            <a:r>
              <a:rPr lang="en-US" dirty="0" smtClean="0"/>
              <a:t>. </a:t>
            </a:r>
          </a:p>
          <a:p>
            <a:r>
              <a:rPr lang="en-US" dirty="0" smtClean="0"/>
              <a:t>We have also finished the code for the final circuit of the system</a:t>
            </a:r>
            <a:endParaRPr lang="en-ZA" dirty="0"/>
          </a:p>
        </p:txBody>
      </p:sp>
      <p:pic>
        <p:nvPicPr>
          <p:cNvPr id="7" name="Content Placeholder 6"/>
          <p:cNvPicPr>
            <a:picLocks noGrp="1" noChangeAspect="1"/>
          </p:cNvPicPr>
          <p:nvPr>
            <p:ph sz="half" idx="2"/>
          </p:nvPr>
        </p:nvPicPr>
        <p:blipFill>
          <a:blip r:embed="rId2" cstate="print">
            <a:extLst>
              <a:ext uri="{28A0092B-C50C-407E-A947-70E740481C1C}">
                <a14:useLocalDpi xmlns:a14="http://schemas.microsoft.com/office/drawing/2010/main" val="0"/>
              </a:ext>
            </a:extLst>
          </a:blip>
          <a:stretch>
            <a:fillRect/>
          </a:stretch>
        </p:blipFill>
        <p:spPr>
          <a:xfrm>
            <a:off x="7758452" y="1825625"/>
            <a:ext cx="3731583" cy="4351338"/>
          </a:xfrm>
        </p:spPr>
      </p:pic>
    </p:spTree>
    <p:extLst>
      <p:ext uri="{BB962C8B-B14F-4D97-AF65-F5344CB8AC3E}">
        <p14:creationId xmlns:p14="http://schemas.microsoft.com/office/powerpoint/2010/main" val="26468227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TotalTime>
  <Words>376</Words>
  <Application>Microsoft Office PowerPoint</Application>
  <PresentationFormat>Widescreen</PresentationFormat>
  <Paragraphs>18</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Calibri Light</vt:lpstr>
      <vt:lpstr>Office Theme</vt:lpstr>
      <vt:lpstr>K.A.B</vt:lpstr>
      <vt:lpstr>THE PROBLEM WE IDENTIFIED</vt:lpstr>
      <vt:lpstr>OUR SOLUTION</vt:lpstr>
      <vt:lpstr>How it works</vt:lpstr>
      <vt:lpstr>Our progress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K.A.B</dc:title>
  <dc:creator>STUDENT</dc:creator>
  <cp:lastModifiedBy>STUDENT</cp:lastModifiedBy>
  <cp:revision>9</cp:revision>
  <dcterms:created xsi:type="dcterms:W3CDTF">2026-09-17T21:01:12Z</dcterms:created>
  <dcterms:modified xsi:type="dcterms:W3CDTF">2026-09-17T22:55:26Z</dcterms:modified>
</cp:coreProperties>
</file>